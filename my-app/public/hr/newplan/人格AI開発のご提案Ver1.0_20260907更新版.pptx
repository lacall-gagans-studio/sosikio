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44EA84-D279-4F24-A90E-EEACFF40E416}" v="3" dt="2026-09-07T01:17:50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勝秀 佐久間" userId="6132524d4ed97dc0" providerId="LiveId" clId="{28C75E0F-B1FA-453A-98CB-9B015DA71A14}"/>
    <pc:docChg chg="undo custSel modSld">
      <pc:chgData name="勝秀 佐久間" userId="6132524d4ed97dc0" providerId="LiveId" clId="{28C75E0F-B1FA-453A-98CB-9B015DA71A14}" dt="2026-09-07T01:17:51.414" v="22" actId="20577"/>
      <pc:docMkLst>
        <pc:docMk/>
      </pc:docMkLst>
      <pc:sldChg chg="delSp mod">
        <pc:chgData name="勝秀 佐久間" userId="6132524d4ed97dc0" providerId="LiveId" clId="{28C75E0F-B1FA-453A-98CB-9B015DA71A14}" dt="2026-09-07T01:17:20.301" v="0" actId="478"/>
        <pc:sldMkLst>
          <pc:docMk/>
          <pc:sldMk cId="0" sldId="256"/>
        </pc:sldMkLst>
        <pc:spChg chg="del">
          <ac:chgData name="勝秀 佐久間" userId="6132524d4ed97dc0" providerId="LiveId" clId="{28C75E0F-B1FA-453A-98CB-9B015DA71A14}" dt="2026-09-07T01:17:20.301" v="0" actId="478"/>
          <ac:spMkLst>
            <pc:docMk/>
            <pc:sldMk cId="0" sldId="256"/>
            <ac:spMk id="10" creationId="{00000000-0000-0000-0000-000000000000}"/>
          </ac:spMkLst>
        </pc:spChg>
      </pc:sldChg>
      <pc:sldChg chg="delSp mod">
        <pc:chgData name="勝秀 佐久間" userId="6132524d4ed97dc0" providerId="LiveId" clId="{28C75E0F-B1FA-453A-98CB-9B015DA71A14}" dt="2026-09-07T01:17:23.474" v="1" actId="478"/>
        <pc:sldMkLst>
          <pc:docMk/>
          <pc:sldMk cId="0" sldId="258"/>
        </pc:sldMkLst>
        <pc:spChg chg="del">
          <ac:chgData name="勝秀 佐久間" userId="6132524d4ed97dc0" providerId="LiveId" clId="{28C75E0F-B1FA-453A-98CB-9B015DA71A14}" dt="2026-09-07T01:17:23.474" v="1" actId="478"/>
          <ac:spMkLst>
            <pc:docMk/>
            <pc:sldMk cId="0" sldId="258"/>
            <ac:spMk id="18" creationId="{00000000-0000-0000-0000-000000000000}"/>
          </ac:spMkLst>
        </pc:spChg>
      </pc:sldChg>
      <pc:sldChg chg="delSp mod">
        <pc:chgData name="勝秀 佐久間" userId="6132524d4ed97dc0" providerId="LiveId" clId="{28C75E0F-B1FA-453A-98CB-9B015DA71A14}" dt="2026-09-07T01:17:26.283" v="2" actId="478"/>
        <pc:sldMkLst>
          <pc:docMk/>
          <pc:sldMk cId="0" sldId="259"/>
        </pc:sldMkLst>
        <pc:spChg chg="del">
          <ac:chgData name="勝秀 佐久間" userId="6132524d4ed97dc0" providerId="LiveId" clId="{28C75E0F-B1FA-453A-98CB-9B015DA71A14}" dt="2026-09-07T01:17:26.283" v="2" actId="478"/>
          <ac:spMkLst>
            <pc:docMk/>
            <pc:sldMk cId="0" sldId="259"/>
            <ac:spMk id="34" creationId="{00000000-0000-0000-0000-000000000000}"/>
          </ac:spMkLst>
        </pc:spChg>
      </pc:sldChg>
      <pc:sldChg chg="delSp mod">
        <pc:chgData name="勝秀 佐久間" userId="6132524d4ed97dc0" providerId="LiveId" clId="{28C75E0F-B1FA-453A-98CB-9B015DA71A14}" dt="2026-09-07T01:17:28.512" v="3" actId="478"/>
        <pc:sldMkLst>
          <pc:docMk/>
          <pc:sldMk cId="0" sldId="260"/>
        </pc:sldMkLst>
        <pc:spChg chg="del">
          <ac:chgData name="勝秀 佐久間" userId="6132524d4ed97dc0" providerId="LiveId" clId="{28C75E0F-B1FA-453A-98CB-9B015DA71A14}" dt="2026-09-07T01:17:28.512" v="3" actId="478"/>
          <ac:spMkLst>
            <pc:docMk/>
            <pc:sldMk cId="0" sldId="260"/>
            <ac:spMk id="19" creationId="{00000000-0000-0000-0000-000000000000}"/>
          </ac:spMkLst>
        </pc:spChg>
      </pc:sldChg>
      <pc:sldChg chg="delSp mod">
        <pc:chgData name="勝秀 佐久間" userId="6132524d4ed97dc0" providerId="LiveId" clId="{28C75E0F-B1FA-453A-98CB-9B015DA71A14}" dt="2026-09-07T01:17:31.490" v="4" actId="478"/>
        <pc:sldMkLst>
          <pc:docMk/>
          <pc:sldMk cId="0" sldId="261"/>
        </pc:sldMkLst>
        <pc:spChg chg="del">
          <ac:chgData name="勝秀 佐久間" userId="6132524d4ed97dc0" providerId="LiveId" clId="{28C75E0F-B1FA-453A-98CB-9B015DA71A14}" dt="2026-09-07T01:17:31.490" v="4" actId="478"/>
          <ac:spMkLst>
            <pc:docMk/>
            <pc:sldMk cId="0" sldId="261"/>
            <ac:spMk id="18" creationId="{00000000-0000-0000-0000-000000000000}"/>
          </ac:spMkLst>
        </pc:spChg>
      </pc:sldChg>
      <pc:sldChg chg="delSp mod">
        <pc:chgData name="勝秀 佐久間" userId="6132524d4ed97dc0" providerId="LiveId" clId="{28C75E0F-B1FA-453A-98CB-9B015DA71A14}" dt="2026-09-07T01:17:33.688" v="5" actId="478"/>
        <pc:sldMkLst>
          <pc:docMk/>
          <pc:sldMk cId="0" sldId="262"/>
        </pc:sldMkLst>
        <pc:spChg chg="del">
          <ac:chgData name="勝秀 佐久間" userId="6132524d4ed97dc0" providerId="LiveId" clId="{28C75E0F-B1FA-453A-98CB-9B015DA71A14}" dt="2026-09-07T01:17:33.688" v="5" actId="478"/>
          <ac:spMkLst>
            <pc:docMk/>
            <pc:sldMk cId="0" sldId="262"/>
            <ac:spMk id="11" creationId="{00000000-0000-0000-0000-000000000000}"/>
          </ac:spMkLst>
        </pc:spChg>
      </pc:sldChg>
      <pc:sldChg chg="delSp mod">
        <pc:chgData name="勝秀 佐久間" userId="6132524d4ed97dc0" providerId="LiveId" clId="{28C75E0F-B1FA-453A-98CB-9B015DA71A14}" dt="2026-09-07T01:17:36.987" v="6" actId="478"/>
        <pc:sldMkLst>
          <pc:docMk/>
          <pc:sldMk cId="0" sldId="263"/>
        </pc:sldMkLst>
        <pc:spChg chg="del">
          <ac:chgData name="勝秀 佐久間" userId="6132524d4ed97dc0" providerId="LiveId" clId="{28C75E0F-B1FA-453A-98CB-9B015DA71A14}" dt="2026-09-07T01:17:36.987" v="6" actId="478"/>
          <ac:spMkLst>
            <pc:docMk/>
            <pc:sldMk cId="0" sldId="263"/>
            <ac:spMk id="23" creationId="{00000000-0000-0000-0000-000000000000}"/>
          </ac:spMkLst>
        </pc:spChg>
      </pc:sldChg>
      <pc:sldChg chg="delSp modSp mod">
        <pc:chgData name="勝秀 佐久間" userId="6132524d4ed97dc0" providerId="LiveId" clId="{28C75E0F-B1FA-453A-98CB-9B015DA71A14}" dt="2026-09-07T01:17:51.414" v="22" actId="20577"/>
        <pc:sldMkLst>
          <pc:docMk/>
          <pc:sldMk cId="0" sldId="264"/>
        </pc:sldMkLst>
        <pc:spChg chg="mod">
          <ac:chgData name="勝秀 佐久間" userId="6132524d4ed97dc0" providerId="LiveId" clId="{28C75E0F-B1FA-453A-98CB-9B015DA71A14}" dt="2026-09-07T01:17:51.414" v="22" actId="20577"/>
          <ac:spMkLst>
            <pc:docMk/>
            <pc:sldMk cId="0" sldId="264"/>
            <ac:spMk id="4" creationId="{00000000-0000-0000-0000-000000000000}"/>
          </ac:spMkLst>
        </pc:spChg>
        <pc:spChg chg="del">
          <ac:chgData name="勝秀 佐久間" userId="6132524d4ed97dc0" providerId="LiveId" clId="{28C75E0F-B1FA-453A-98CB-9B015DA71A14}" dt="2026-09-07T01:17:40.220" v="7" actId="478"/>
          <ac:spMkLst>
            <pc:docMk/>
            <pc:sldMk cId="0" sldId="264"/>
            <ac:spMk id="2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420"/>
                </a:solidFill>
                <a:latin typeface="Arial"/>
              </a:defRPr>
            </a:pPr>
            <a:r>
              <a:rPr lang="ja-JP" altLang="en-US" sz="1300" b="0" i="0" u="none" strike="noStrike">
                <a:solidFill>
                  <a:srgbClr val="141420"/>
                </a:solidFill>
                <a:latin typeface="Arial"/>
              </a:rPr>
              <a:t>組織エンゲージメントスコア推移（サンプル）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組織エンゲージメントスコア（イメージ）</c:v>
                </c:pt>
              </c:strCache>
            </c:strRef>
          </c:tx>
          <c:spPr>
            <a:ln w="31750" cap="flat">
              <a:solidFill>
                <a:srgbClr val="D6006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006D"/>
              </a:solidFill>
              <a:ln w="9525" cap="flat">
                <a:solidFill>
                  <a:srgbClr val="D6006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420"/>
                    </a:solidFill>
                    <a:latin typeface="Arial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61</c:v>
                </c:pt>
                <c:pt idx="2">
                  <c:v>63</c:v>
                </c:pt>
                <c:pt idx="3">
                  <c:v>68</c:v>
                </c:pt>
                <c:pt idx="4">
                  <c:v>71</c:v>
                </c:pt>
                <c:pt idx="5">
                  <c:v>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D0-4092-938A-A4CC150D167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4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4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0332720" y="-914400"/>
            <a:ext cx="3291840" cy="3291840"/>
          </a:xfrm>
          <a:prstGeom prst="ellipse">
            <a:avLst/>
          </a:prstGeom>
          <a:solidFill>
            <a:srgbClr val="8A004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AI ・ PROPOSAL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人格AI開発 ご提案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 err="1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竹下仁様・公本樹祥様の暗黙知を武器へ</a:t>
            </a:r>
            <a:r>
              <a:rPr lang="en-US" sz="18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0" cy="960120"/>
          </a:xfrm>
          <a:prstGeom prst="line">
            <a:avLst/>
          </a:prstGeom>
          <a:noFill/>
          <a:ln w="12700">
            <a:solidFill>
              <a:srgbClr val="3A3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051560" y="379476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ご提案先
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株式会社ライフワークスタイルラボ 御中
</a:t>
            </a:r>
            <a:endParaRPr lang="en-US" sz="1100" dirty="0"/>
          </a:p>
          <a:p>
            <a:pPr marL="0" indent="0">
              <a:buNone/>
            </a:pPr>
            <a:r>
              <a:rPr lang="en-US" sz="13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竹下仁 様（代表取締役会長）／公本樹祥 様（取締役社長）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37947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ご提案元
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北菱電興株式会社
</a:t>
            </a:r>
            <a:endParaRPr lang="en-US" sz="1100" dirty="0"/>
          </a:p>
          <a:p>
            <a:pPr marL="0" indent="0">
              <a:buNone/>
            </a:pPr>
            <a:r>
              <a:rPr lang="en-US" sz="13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東本 ／ 佐久間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背景・課題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多忙な専門家が直面する、3つの壁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386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2843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時間的制約と品質維持の</a:t>
            </a:r>
            <a:endParaRPr lang="en-US" sz="1600" b="1" dirty="0">
              <a:solidFill>
                <a:srgbClr val="14142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1600" b="1" dirty="0" err="1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ジレンマ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多くのクライアントを抱え、一人ひとりへの十分なケアが難しくなる</a:t>
            </a:r>
            <a:r>
              <a:rPr lang="en-US" sz="12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対応品質の維持と業務量の板挟みが、精神的・物理的な負担に</a:t>
            </a:r>
            <a:r>
              <a:rPr lang="en-US" sz="12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783080"/>
            <a:ext cx="348386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672584" y="2103120"/>
            <a:ext cx="502920" cy="502920"/>
          </a:xfrm>
          <a:prstGeom prst="ellipse">
            <a:avLst/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672584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2743200"/>
            <a:ext cx="2843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研修・コンサル効果の</a:t>
            </a:r>
            <a:endParaRPr lang="en-US" sz="1600" b="1" dirty="0">
              <a:solidFill>
                <a:srgbClr val="14142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1600" b="1" dirty="0" err="1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定着と測定の困難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365760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研修で伝えた内容が現場で実践されているかを追跡・評価する手段が乏しく、効果が一過性になりがち。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783080"/>
            <a:ext cx="348386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476488" y="2103120"/>
            <a:ext cx="502920" cy="502920"/>
          </a:xfrm>
          <a:prstGeom prst="ellipse">
            <a:avLst/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847648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76488" y="2743200"/>
            <a:ext cx="2843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暗黙知の伝承と再現性の欠如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76488" y="365760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熟練者の判断ロジックや価値基準が</a:t>
            </a:r>
            <a:endParaRPr lang="en-US" sz="1250" dirty="0">
              <a:solidFill>
                <a:srgbClr val="4545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形式知化されておらず、部下や後進に伝わらない</a:t>
            </a:r>
            <a:r>
              <a:rPr lang="en-US" sz="12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デリバリー品質にばらつきが生じる</a:t>
            </a:r>
            <a:r>
              <a:rPr lang="en-US" sz="12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41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868680" y="534924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公本様は</a:t>
            </a:r>
            <a:r>
              <a:rPr lang="ja-JP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現在3社の顧問。将来は10〜30社への拡大を志向。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対応品質を保ったまま規模を拡げる仕組みが必要</a:t>
            </a:r>
            <a:r>
              <a:rPr lang="ja-JP" altLang="en-US" sz="13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r>
              <a:rPr lang="en-US" sz="1300" dirty="0" err="1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</a:t>
            </a:r>
            <a:r>
              <a:rPr lang="ja-JP" altLang="en-US" sz="13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</a:t>
            </a:r>
            <a:r>
              <a:rPr lang="en-US" sz="1300" dirty="0" err="1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人格AIの出番</a:t>
            </a:r>
            <a:r>
              <a:rPr lang="en-US" sz="13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北菱電興株式会社 × 株式会社ライフワークスタイルラボ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ご提案コンセプト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「人格AI」で、暗黙知を再現する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9436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 err="1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竹下様・公本様の対話スタイル・思考の型・判断ロジックを学習し</a:t>
            </a:r>
            <a:r>
              <a:rPr lang="en-US" sz="150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、「</a:t>
            </a:r>
            <a:r>
              <a:rPr lang="en-US" sz="1500" b="1" dirty="0" err="1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私ならこう答える」を再現するAIを</a:t>
            </a:r>
            <a:r>
              <a:rPr lang="ja-JP" altLang="en-US" sz="150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創り</a:t>
            </a:r>
            <a:r>
              <a:rPr lang="en-US" sz="1500" b="1" dirty="0" err="1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ます</a:t>
            </a:r>
            <a:r>
              <a:rPr lang="en-US" sz="1500" b="1" dirty="0">
                <a:solidFill>
                  <a:srgbClr val="14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461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AIが行った回答は、後で本人が確認・追認できる仕組みを搭載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品質への安心感と、対応スピードの両立を実現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「戦略家」「Z世代」など多様なペルソナへの切替も可能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9377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音声感情分析サービス</a:t>
            </a:r>
            <a:r>
              <a:rPr lang="ja-JP" altLang="en-US" sz="12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</a:t>
            </a:r>
            <a:r>
              <a:rPr lang="en-US" sz="12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r>
              <a:rPr lang="ja-JP" altLang="en-US" sz="12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sz="1200" dirty="0" err="1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の技術を、コンサルティングの現場実装へ</a:t>
            </a:r>
            <a:r>
              <a:rPr lang="en-US" sz="12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03720" y="1783080"/>
            <a:ext cx="4754880" cy="4434840"/>
          </a:xfrm>
          <a:prstGeom prst="roundRect">
            <a:avLst>
              <a:gd name="adj" fmla="val 1649"/>
            </a:avLst>
          </a:prstGeom>
          <a:solidFill>
            <a:srgbClr val="141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60920" y="2148840"/>
            <a:ext cx="3840480" cy="777240"/>
          </a:xfrm>
          <a:prstGeom prst="roundRect">
            <a:avLst>
              <a:gd name="adj" fmla="val 10588"/>
            </a:avLst>
          </a:prstGeom>
          <a:solidFill>
            <a:srgbClr val="2A2A3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7360920" y="21488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竹下様 ／ 公本様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の対話・判断ロジック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9260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006D"/>
                </a:solidFill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60920" y="3566160"/>
            <a:ext cx="3840480" cy="777240"/>
          </a:xfrm>
          <a:prstGeom prst="roundRect">
            <a:avLst>
              <a:gd name="adj" fmla="val 10588"/>
            </a:avLst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7360920" y="3566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Probeで学習した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人格AI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43434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006D"/>
                </a:solidFill>
              </a:rPr>
              <a:t>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60920" y="4983480"/>
            <a:ext cx="3840480" cy="777240"/>
          </a:xfrm>
          <a:prstGeom prst="roundRect">
            <a:avLst>
              <a:gd name="adj" fmla="val 10588"/>
            </a:avLst>
          </a:prstGeom>
          <a:solidFill>
            <a:srgbClr val="2A2A3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7360920" y="4983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クライアントへの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個別回答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5806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本人が確認・追認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人格AIの仕組み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音声・感情分析から、回答生成まで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737360" cy="21031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161288" y="2148840"/>
            <a:ext cx="512064" cy="512064"/>
          </a:xfrm>
          <a:prstGeom prst="ellipse">
            <a:avLst/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1161288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対話・音声データの収集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118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同意を得た面談・研修の音声を記録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3246120"/>
            <a:ext cx="601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006D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87218" y="2468880"/>
            <a:ext cx="1737360" cy="21031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499866" y="2148840"/>
            <a:ext cx="512064" cy="512064"/>
          </a:xfrm>
          <a:prstGeom prst="ellipse">
            <a:avLst/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3499866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24378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Probeによる感情・思考分析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24378" y="36118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声の抑揚や間から思考パターンを可視化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624578" y="3246120"/>
            <a:ext cx="601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006D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225796" y="2468880"/>
            <a:ext cx="1737360" cy="21031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5838444" y="2148840"/>
            <a:ext cx="512064" cy="512064"/>
          </a:xfrm>
          <a:prstGeom prst="ellipse">
            <a:avLst/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5838444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362956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人格AIの学習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62956" y="36118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判断ロジック・価値基準を型として学習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963156" y="3246120"/>
            <a:ext cx="601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006D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564374" y="2468880"/>
            <a:ext cx="1737360" cy="21031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8177022" y="2148840"/>
            <a:ext cx="512064" cy="512064"/>
          </a:xfrm>
          <a:prstGeom prst="ellipse">
            <a:avLst/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 txBox="1"/>
          <p:nvPr/>
        </p:nvSpPr>
        <p:spPr>
          <a:xfrm>
            <a:off x="8177022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701534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回答の生成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01534" y="36118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クライアントからの質問に個別回答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301734" y="3246120"/>
            <a:ext cx="601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006D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902952" y="2468880"/>
            <a:ext cx="1737360" cy="21031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10515600" y="2148840"/>
            <a:ext cx="512064" cy="512064"/>
          </a:xfrm>
          <a:prstGeom prst="ellipse">
            <a:avLst/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 txBox="1"/>
          <p:nvPr/>
        </p:nvSpPr>
        <p:spPr>
          <a:xfrm>
            <a:off x="1051560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040112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本人の確認・追認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040112" y="36118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内容を確認のうえ提供、安心感を担保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※データの取得範囲・同意プロセスは次回打合せ以降で詳細設計します。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提供価値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人格AIがもたらす、3つの価値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3864" cy="3566160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品質を保った規模拡大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843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対応品質を維持したまま、顧問先を3社から10〜30社体制へ拡大する土台に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828800"/>
            <a:ext cx="3483864" cy="3566160"/>
          </a:xfrm>
          <a:prstGeom prst="roundRect">
            <a:avLst>
              <a:gd name="adj" fmla="val 2100"/>
            </a:avLst>
          </a:prstGeom>
          <a:solidFill>
            <a:srgbClr val="141420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672584" y="2148840"/>
            <a:ext cx="502920" cy="502920"/>
          </a:xfrm>
          <a:prstGeom prst="ellipse">
            <a:avLst/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672584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288036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暗黙知の形式知化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3703320"/>
            <a:ext cx="2843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判断ロジックが型として残り、品質標準化と後進育成を両立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828800"/>
            <a:ext cx="3483864" cy="3566160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476488" y="2148840"/>
            <a:ext cx="502920" cy="502920"/>
          </a:xfrm>
          <a:prstGeom prst="ellipse">
            <a:avLst/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8476488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76488" y="288036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データドリブンな提案力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76488" y="3703320"/>
            <a:ext cx="2843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Probeが可視化する感情・組織データで、フィードバックの説得力が向上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活用イメージ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お二人の専門性を活かしたペルソナ設計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2956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777240" cy="777240"/>
          </a:xfrm>
          <a:prstGeom prst="ellipse">
            <a:avLst/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竹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94560"/>
            <a:ext cx="3717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竹下仁様 人格AI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606040"/>
            <a:ext cx="3717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職場環境コンサルタントの視点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0040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オフィス・働く環境の観点から、個別の相談へ回答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7356" y="1828800"/>
            <a:ext cx="5362956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643116" y="2194560"/>
            <a:ext cx="777240" cy="777240"/>
          </a:xfrm>
          <a:prstGeom prst="ellipse">
            <a:avLst/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6643116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公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603236" y="2194560"/>
            <a:ext cx="3717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公本樹祥様 人格AI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603236" y="2606040"/>
            <a:ext cx="3717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組織開発コンサルタントの視点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43116" y="320040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組織開発・人材育成の観点から、個別の相談へ回答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141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868680" y="4480560"/>
            <a:ext cx="10451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さらに、追加ペルソナへの切替も可能です。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「戦略家」「Z世代」など多様な視点に切り替えて回答させることで、クライアントへ多角的なフィードバックを提供できます。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データで語れる、新しいコンサルティング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Probeが可視化する組織データの活用イメージ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対話の中の「見えない感情」を数値化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これまで感覚に頼っていたフィードバックに、客観的なデータの裏付けを加えられます。エンゲージメントや心理的安全性の変化を、対話のたびに定点観測できるイメージです。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16052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面談・研修後の振り返り資料に添える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半期ごとの組織状態レポートに活用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経営層への報告の説得力を強化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60720" y="1783080"/>
            <a:ext cx="58978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9" name="Chart 0"/>
          <p:cNvGraphicFramePr/>
          <p:nvPr/>
        </p:nvGraphicFramePr>
        <p:xfrm>
          <a:off x="6035040" y="201168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035040" y="5440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※実データではなくイメージ図です。実際の指標設計は導入時に決定します。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進め方・スケジュール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まずは合意形成から、着実に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377440" cy="3291840"/>
          </a:xfrm>
          <a:prstGeom prst="roundRect">
            <a:avLst>
              <a:gd name="adj" fmla="val 3462"/>
            </a:avLst>
          </a:prstGeom>
          <a:solidFill>
            <a:srgbClr val="141420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00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9/9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今回の</a:t>
            </a:r>
            <a:r>
              <a:rPr lang="en-US" sz="1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ミーティング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033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ご提案内容の詳細確認（Zoom 15:00〜16:00）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3474720"/>
            <a:ext cx="527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006D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53384" y="2103120"/>
            <a:ext cx="2377440" cy="32918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3681984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00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</a:t>
            </a:r>
            <a:r>
              <a:rPr lang="en-US" altLang="ja-JP" sz="2000" b="1" dirty="0">
                <a:solidFill>
                  <a:srgbClr val="D600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81984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インタビュー実施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81984" y="37033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竹下様・公本様への人格AIナレッジ収集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30824" y="3474720"/>
            <a:ext cx="527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006D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58128" y="2103120"/>
            <a:ext cx="2377440" cy="32918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6586728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00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</a:t>
            </a:r>
            <a:r>
              <a:rPr lang="en-US" altLang="ja-JP" sz="2000" b="1" dirty="0">
                <a:solidFill>
                  <a:srgbClr val="D600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86728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データ収集計画確定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6728" y="37033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対話ログ・サーベイの取得方針と同意プロセス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35568" y="3474720"/>
            <a:ext cx="527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006D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262872" y="2103120"/>
            <a:ext cx="2377440" cy="32918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9491472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2000" b="1" dirty="0">
                <a:solidFill>
                  <a:srgbClr val="D600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ご契約</a:t>
            </a:r>
            <a:r>
              <a:rPr lang="en-US" sz="2000" b="1" dirty="0">
                <a:solidFill>
                  <a:srgbClr val="D600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491472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契約スキーム確定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491472" y="37033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前払いクレジット案</a:t>
            </a:r>
            <a:r>
              <a:rPr lang="en-US" sz="1150" dirty="0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45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決済条件のすり合わせ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0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体制・費用・次のステップ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さあ、次の一歩を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291840" cy="4206240"/>
          </a:xfrm>
          <a:prstGeom prst="roundRect">
            <a:avLst>
              <a:gd name="adj" fmla="val 2500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費用目安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600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250万円</a:t>
            </a:r>
            <a:r>
              <a:rPr lang="ja-JP" altLang="en-US" sz="1600" b="1" dirty="0">
                <a:solidFill>
                  <a:srgbClr val="D600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（税別）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</a:t>
            </a:r>
            <a:r>
              <a:rPr lang="en-US" sz="1100" dirty="0" err="1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開発初期フェーズの予算目安</a:t>
            </a:r>
            <a:endParaRPr lang="en-US" sz="1100" dirty="0">
              <a:solidFill>
                <a:srgbClr val="CFCF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。詳細は次回打合せにて確定）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783080"/>
            <a:ext cx="3703320" cy="4206240"/>
          </a:xfrm>
          <a:prstGeom prst="roundRect">
            <a:avLst>
              <a:gd name="adj" fmla="val 2222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438912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推進体制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66260" y="329331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北菱電興株式会社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66260" y="37431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人格AIの開発・提供（東本・佐久間）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6626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株式会社ライフワークスタイルラボ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903957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ナレッジ提供・内容の監修（竹下様・公本様）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01000" y="1783080"/>
            <a:ext cx="3639312" cy="4206240"/>
          </a:xfrm>
          <a:prstGeom prst="roundRect">
            <a:avLst>
              <a:gd name="adj" fmla="val 2261"/>
            </a:avLst>
          </a:prstGeom>
          <a:solidFill>
            <a:srgbClr val="D6006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827532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2026年9月</a:t>
            </a:r>
            <a:r>
              <a:rPr lang="en-US" altLang="ja-JP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日（</a:t>
            </a:r>
            <a:r>
              <a:rPr lang="ja-JP" alt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月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）</a:t>
            </a:r>
            <a:r>
              <a:rPr lang="ja-JP" alt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仮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Zoom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566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 err="1">
                <a:solidFill>
                  <a:srgbClr val="FF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本提案の詳細をすり合わせ、インタビュー日程も確定させましょう</a:t>
            </a:r>
            <a:r>
              <a:rPr lang="en-US" sz="1200" dirty="0">
                <a:solidFill>
                  <a:srgbClr val="FF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423</Words>
  <Application>Microsoft Office PowerPoint</Application>
  <PresentationFormat>ワイド画面</PresentationFormat>
  <Paragraphs>147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佐久間勝秀</dc:creator>
  <cp:lastModifiedBy>勝秀 佐久間</cp:lastModifiedBy>
  <cp:revision>3</cp:revision>
  <dcterms:created xsi:type="dcterms:W3CDTF">2026-09-07T01:01:10Z</dcterms:created>
  <dcterms:modified xsi:type="dcterms:W3CDTF">2026-09-07T01:17:56Z</dcterms:modified>
</cp:coreProperties>
</file>